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jpg"/><Relationship Id="rId5" Type="http://schemas.openxmlformats.org/officeDocument/2006/relationships/image" Target="../media/image49.jpg"/><Relationship Id="rId6" Type="http://schemas.openxmlformats.org/officeDocument/2006/relationships/image" Target="../media/image5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Relationship Id="rId6" Type="http://schemas.openxmlformats.org/officeDocument/2006/relationships/image" Target="../media/image6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6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image" Target="../media/image72.jpg"/><Relationship Id="rId4" Type="http://schemas.openxmlformats.org/officeDocument/2006/relationships/image" Target="../media/image73.jpg"/><Relationship Id="rId5" Type="http://schemas.openxmlformats.org/officeDocument/2006/relationships/image" Target="../media/image74.jpg"/><Relationship Id="rId6" Type="http://schemas.openxmlformats.org/officeDocument/2006/relationships/image" Target="../media/image7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image" Target="../media/image77.jpg"/><Relationship Id="rId4" Type="http://schemas.openxmlformats.org/officeDocument/2006/relationships/image" Target="../media/image78.jpg"/><Relationship Id="rId5" Type="http://schemas.openxmlformats.org/officeDocument/2006/relationships/image" Target="../media/image79.jpg"/><Relationship Id="rId6" Type="http://schemas.openxmlformats.org/officeDocument/2006/relationships/image" Target="../media/image8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image" Target="../media/image82.jpg"/><Relationship Id="rId4" Type="http://schemas.openxmlformats.org/officeDocument/2006/relationships/image" Target="../media/image83.jpg"/><Relationship Id="rId5" Type="http://schemas.openxmlformats.org/officeDocument/2006/relationships/image" Target="../media/image84.jpg"/><Relationship Id="rId6" Type="http://schemas.openxmlformats.org/officeDocument/2006/relationships/image" Target="../media/image8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Relationship Id="rId3" Type="http://schemas.openxmlformats.org/officeDocument/2006/relationships/image" Target="../media/image87.jpg"/><Relationship Id="rId4" Type="http://schemas.openxmlformats.org/officeDocument/2006/relationships/image" Target="../media/image88.jpg"/><Relationship Id="rId5" Type="http://schemas.openxmlformats.org/officeDocument/2006/relationships/image" Target="../media/image89.jpg"/><Relationship Id="rId6" Type="http://schemas.openxmlformats.org/officeDocument/2006/relationships/image" Target="../media/image9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Relationship Id="rId3" Type="http://schemas.openxmlformats.org/officeDocument/2006/relationships/image" Target="../media/image95.jpg"/><Relationship Id="rId4" Type="http://schemas.openxmlformats.org/officeDocument/2006/relationships/image" Target="../media/image9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Relationship Id="rId3" Type="http://schemas.openxmlformats.org/officeDocument/2006/relationships/image" Target="../media/image98.jpg"/><Relationship Id="rId4" Type="http://schemas.openxmlformats.org/officeDocument/2006/relationships/image" Target="../media/image9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Relationship Id="rId3" Type="http://schemas.openxmlformats.org/officeDocument/2006/relationships/image" Target="../media/image101.jpg"/><Relationship Id="rId4" Type="http://schemas.openxmlformats.org/officeDocument/2006/relationships/image" Target="../media/image10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Relationship Id="rId3" Type="http://schemas.openxmlformats.org/officeDocument/2006/relationships/image" Target="../media/image107.jpg"/><Relationship Id="rId4" Type="http://schemas.openxmlformats.org/officeDocument/2006/relationships/image" Target="../media/image10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Relationship Id="rId3" Type="http://schemas.openxmlformats.org/officeDocument/2006/relationships/image" Target="../media/image110.jpg"/><Relationship Id="rId4" Type="http://schemas.openxmlformats.org/officeDocument/2006/relationships/image" Target="../media/image11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Relationship Id="rId3" Type="http://schemas.openxmlformats.org/officeDocument/2006/relationships/image" Target="../media/image113.jpg"/><Relationship Id="rId4" Type="http://schemas.openxmlformats.org/officeDocument/2006/relationships/image" Target="../media/image11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Relationship Id="rId3" Type="http://schemas.openxmlformats.org/officeDocument/2006/relationships/image" Target="../media/image119.jpg"/><Relationship Id="rId4" Type="http://schemas.openxmlformats.org/officeDocument/2006/relationships/image" Target="../media/image12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Relationship Id="rId3" Type="http://schemas.openxmlformats.org/officeDocument/2006/relationships/image" Target="../media/image122.jpg"/><Relationship Id="rId4" Type="http://schemas.openxmlformats.org/officeDocument/2006/relationships/image" Target="../media/image12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Relationship Id="rId3" Type="http://schemas.openxmlformats.org/officeDocument/2006/relationships/image" Target="../media/image125.jpg"/><Relationship Id="rId4" Type="http://schemas.openxmlformats.org/officeDocument/2006/relationships/image" Target="../media/image12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Relationship Id="rId3" Type="http://schemas.openxmlformats.org/officeDocument/2006/relationships/image" Target="../media/image128.jpg"/><Relationship Id="rId4" Type="http://schemas.openxmlformats.org/officeDocument/2006/relationships/image" Target="../media/image12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Relationship Id="rId3" Type="http://schemas.openxmlformats.org/officeDocument/2006/relationships/image" Target="../media/image131.jpg"/><Relationship Id="rId4" Type="http://schemas.openxmlformats.org/officeDocument/2006/relationships/image" Target="../media/image1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1C18"/>
                </a:solidFill>
              </a:defRPr>
            </a:pPr>
            <a:r>
              <a:t>Attention-Based Backdoor Separation Maps</a:t>
            </a:r>
          </a:p>
          <a:p>
            <a:pPr>
              <a:defRPr sz="2000">
                <a:solidFill>
                  <a:srgbClr val="2D5C56"/>
                </a:solidFill>
              </a:defRPr>
            </a:pPr>
            <a:r>
              <a:t>Minimum separation (hardest clean-vs-trigger gap) -- all 5 attacks, layer by layer</a:t>
            </a:r>
          </a:p>
          <a:p>
            <a:pPr>
              <a:defRPr sz="1600">
                <a:solidFill>
                  <a:srgbClr val="5A564C"/>
                </a:solidFill>
              </a:defRPr>
            </a:pPr>
            <a:r>
              <a:t>GoBA, DropVLA, BackdoorVLA-OFT, Pi0-Fast (I4), Pi0-Fast (TI4)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0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0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1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1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1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1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1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1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1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1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pic>
        <p:nvPicPr>
          <p:cNvPr id="11" name="Picture 10" descr="min_separation__L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78730"/>
            <a:ext cx="4259588" cy="10844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pic>
        <p:nvPicPr>
          <p:cNvPr id="13" name="Picture 12" descr="min_separation__L1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5636360"/>
            <a:ext cx="5807982" cy="108447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2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3716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C18"/>
                </a:solidFill>
              </a:defRPr>
            </a:pPr>
            <a:r>
              <a:t>Layer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9436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64C"/>
                </a:solidFill>
              </a:defRPr>
            </a:pPr>
            <a:r>
              <a:t>Minimum separation (hardest clean-vs-trigger gap)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GoBA</a:t>
            </a:r>
          </a:p>
        </p:txBody>
      </p:sp>
      <p:pic>
        <p:nvPicPr>
          <p:cNvPr id="5" name="Picture 4" descr="goba_min_separation__L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05840"/>
            <a:ext cx="5422390" cy="1084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16347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DropVLA</a:t>
            </a:r>
          </a:p>
        </p:txBody>
      </p:sp>
      <p:pic>
        <p:nvPicPr>
          <p:cNvPr id="7" name="Picture 6" descr="dropvla_min_separation__L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63470"/>
            <a:ext cx="6196586" cy="10844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32110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BackdoorVLA-OFT</a:t>
            </a:r>
          </a:p>
        </p:txBody>
      </p:sp>
      <p:pic>
        <p:nvPicPr>
          <p:cNvPr id="9" name="Picture 8" descr="min_separation__L3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21100"/>
            <a:ext cx="7744980" cy="1084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447873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(I4, image-only)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7873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636360"/>
            <a:ext cx="1737360" cy="108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C18"/>
                </a:solidFill>
              </a:defRPr>
            </a:pPr>
            <a:r>
              <a:t>Pi0-Fast (TI4, image+text)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36360"/>
            <a:ext cx="9997135" cy="10844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64C"/>
                </a:solidFill>
              </a:defRPr>
            </a:pPr>
            <a:r>
              <a:t>N/A -- this model only has 18 layers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